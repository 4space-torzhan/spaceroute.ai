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8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8F05"/>
    <a:srgbClr val="A3C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54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26.02.2026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Самолет в небе » Шаблоны для презентаций PowerPoint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8051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4427984" y="0"/>
            <a:ext cx="4752528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590256" y="188640"/>
            <a:ext cx="4446240" cy="356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kk-KZ" sz="2800" b="1" dirty="0" smtClean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Sp</a:t>
            </a:r>
            <a:r>
              <a:rPr lang="en-US" sz="2800" b="1" dirty="0" smtClean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a</a:t>
            </a:r>
            <a:r>
              <a:rPr lang="kk-KZ" sz="2800" b="1" dirty="0" smtClean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ceRoute </a:t>
            </a:r>
            <a:r>
              <a:rPr lang="kk-KZ" sz="2800" b="1" dirty="0">
                <a:solidFill>
                  <a:srgbClr val="FF0000"/>
                </a:solidFill>
                <a:latin typeface="Times New Roman"/>
                <a:ea typeface="Calibri"/>
                <a:cs typeface="Times New Roman"/>
              </a:rPr>
              <a:t>AI </a:t>
            </a:r>
            <a:r>
              <a:rPr lang="kk-KZ" sz="2800" b="1" dirty="0">
                <a:solidFill>
                  <a:srgbClr val="002060"/>
                </a:solidFill>
                <a:latin typeface="Times New Roman"/>
                <a:ea typeface="Calibri"/>
                <a:cs typeface="Times New Roman"/>
              </a:rPr>
              <a:t>– ғарыштық ауа райы деректері негізінде ұшақтар мен дрондар үшін ең қауіпсіз ұшу маршруттарын ұсынатын интеллектуалды жүйе</a:t>
            </a:r>
            <a:endParaRPr lang="ru-RU" sz="2800" b="1" dirty="0">
              <a:solidFill>
                <a:srgbClr val="002060"/>
              </a:solidFill>
              <a:ea typeface="Calibri"/>
              <a:cs typeface="Times New Roman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590256" y="4293096"/>
            <a:ext cx="444624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002060"/>
                </a:solidFill>
                <a:latin typeface="Times New Roman"/>
                <a:ea typeface="Times New Roman"/>
              </a:rPr>
              <a:t>Команда</a:t>
            </a:r>
            <a:r>
              <a:rPr lang="ru-RU" sz="2000" b="1" dirty="0" smtClean="0">
                <a:solidFill>
                  <a:srgbClr val="002060"/>
                </a:solidFill>
                <a:latin typeface="Times New Roman"/>
                <a:ea typeface="Times New Roman"/>
              </a:rPr>
              <a:t>:</a:t>
            </a:r>
            <a:r>
              <a:rPr lang="ru-RU" sz="2000" dirty="0" smtClean="0">
                <a:solidFill>
                  <a:srgbClr val="002060"/>
                </a:solidFill>
                <a:latin typeface="Times New Roman"/>
                <a:ea typeface="Times New Roman"/>
              </a:rPr>
              <a:t>   </a:t>
            </a:r>
            <a:r>
              <a:rPr lang="en-US" sz="3200" b="1" dirty="0" smtClean="0">
                <a:solidFill>
                  <a:srgbClr val="0070C0"/>
                </a:solidFill>
                <a:latin typeface="ui-monospace"/>
              </a:rPr>
              <a:t>4SPACE</a:t>
            </a:r>
            <a:endParaRPr lang="kk-KZ" sz="3200" b="1" dirty="0" smtClean="0">
              <a:solidFill>
                <a:srgbClr val="0070C0"/>
              </a:solidFill>
              <a:latin typeface="ui-monospace"/>
            </a:endParaRPr>
          </a:p>
          <a:p>
            <a:r>
              <a:rPr lang="ru-RU" sz="2000" dirty="0">
                <a:solidFill>
                  <a:srgbClr val="002060"/>
                </a:solidFill>
                <a:latin typeface="Times New Roman"/>
                <a:ea typeface="Times New Roman"/>
              </a:rPr>
              <a:t/>
            </a:r>
            <a:br>
              <a:rPr lang="ru-RU" sz="2000" dirty="0">
                <a:solidFill>
                  <a:srgbClr val="002060"/>
                </a:solidFill>
                <a:latin typeface="Times New Roman"/>
                <a:ea typeface="Times New Roman"/>
              </a:rPr>
            </a:br>
            <a:endParaRPr lang="ru-RU" sz="2000" dirty="0" smtClean="0">
              <a:solidFill>
                <a:srgbClr val="002060"/>
              </a:solidFill>
              <a:latin typeface="Times New Roman"/>
              <a:ea typeface="Times New Roman"/>
            </a:endParaRPr>
          </a:p>
          <a:p>
            <a:r>
              <a:rPr lang="ru-RU" sz="2000" b="1" dirty="0" err="1" smtClean="0">
                <a:solidFill>
                  <a:srgbClr val="002060"/>
                </a:solidFill>
                <a:latin typeface="Times New Roman"/>
                <a:ea typeface="Times New Roman"/>
              </a:rPr>
              <a:t>Бағыты</a:t>
            </a:r>
            <a:r>
              <a:rPr lang="ru-RU" sz="2000" b="1" dirty="0">
                <a:solidFill>
                  <a:srgbClr val="002060"/>
                </a:solidFill>
                <a:latin typeface="Times New Roman"/>
                <a:ea typeface="Times New Roman"/>
              </a:rPr>
              <a:t>:</a:t>
            </a:r>
            <a:r>
              <a:rPr lang="ru-RU" sz="2000" dirty="0">
                <a:solidFill>
                  <a:srgbClr val="002060"/>
                </a:solidFill>
                <a:latin typeface="Times New Roman"/>
                <a:ea typeface="Times New Roman"/>
              </a:rPr>
              <a:t> </a:t>
            </a:r>
            <a:r>
              <a:rPr lang="ru-RU" sz="2000" dirty="0" smtClean="0">
                <a:solidFill>
                  <a:srgbClr val="002060"/>
                </a:solidFill>
                <a:latin typeface="Times New Roman"/>
                <a:ea typeface="Times New Roman"/>
              </a:rPr>
              <a:t>  </a:t>
            </a:r>
          </a:p>
          <a:p>
            <a:r>
              <a:rPr lang="ru-RU" sz="2800" b="1" dirty="0" err="1" smtClean="0">
                <a:solidFill>
                  <a:srgbClr val="0070C0"/>
                </a:solidFill>
                <a:latin typeface="Times New Roman"/>
                <a:ea typeface="Times New Roman"/>
              </a:rPr>
              <a:t>SpaceTech</a:t>
            </a:r>
            <a:r>
              <a:rPr lang="ru-RU" sz="2800" b="1" dirty="0" smtClean="0">
                <a:solidFill>
                  <a:srgbClr val="0070C0"/>
                </a:solidFill>
                <a:latin typeface="Times New Roman"/>
                <a:ea typeface="Times New Roman"/>
              </a:rPr>
              <a:t> </a:t>
            </a:r>
            <a:r>
              <a:rPr lang="ru-RU" sz="2800" b="1" dirty="0">
                <a:solidFill>
                  <a:srgbClr val="0070C0"/>
                </a:solidFill>
                <a:latin typeface="Times New Roman"/>
                <a:ea typeface="Times New Roman"/>
              </a:rPr>
              <a:t>+ AI + </a:t>
            </a:r>
            <a:r>
              <a:rPr lang="ru-RU" sz="2800" b="1" dirty="0" err="1">
                <a:solidFill>
                  <a:srgbClr val="0070C0"/>
                </a:solidFill>
                <a:latin typeface="Times New Roman"/>
                <a:ea typeface="Times New Roman"/>
              </a:rPr>
              <a:t>Aviation</a:t>
            </a:r>
            <a:r>
              <a:rPr lang="ru-RU" sz="3200" b="1" dirty="0">
                <a:solidFill>
                  <a:srgbClr val="0070C0"/>
                </a:solidFill>
                <a:latin typeface="Times New Roman"/>
                <a:ea typeface="Times New Roman"/>
              </a:rPr>
              <a:t/>
            </a:r>
            <a:br>
              <a:rPr lang="ru-RU" sz="3200" b="1" dirty="0">
                <a:solidFill>
                  <a:srgbClr val="0070C0"/>
                </a:solidFill>
                <a:latin typeface="Times New Roman"/>
                <a:ea typeface="Times New Roman"/>
              </a:rPr>
            </a:br>
            <a:endParaRPr lang="ru-RU" sz="32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50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Фон для презентации Авиация - стоковые фото и изображения ☆ celes.clu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351" y="0"/>
            <a:ext cx="916235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Стрелка вниз 5"/>
          <p:cNvSpPr/>
          <p:nvPr/>
        </p:nvSpPr>
        <p:spPr>
          <a:xfrm rot="18007429">
            <a:off x="1187854" y="1439573"/>
            <a:ext cx="1512168" cy="2798901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 rot="1728118">
            <a:off x="968879" y="2467022"/>
            <a:ext cx="1428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МӘСЕЛЕ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329338" y="1700808"/>
            <a:ext cx="5563141" cy="3046988"/>
          </a:xfrm>
          <a:prstGeom prst="rect">
            <a:avLst/>
          </a:prstGeom>
          <a:ln w="571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GPS </a:t>
            </a:r>
            <a:r>
              <a:rPr lang="ru-RU" sz="3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дәлдігінің</a:t>
            </a: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төмендеуі</a:t>
            </a: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3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Байланыстың</a:t>
            </a: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үзілуі</a:t>
            </a: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 Радио </a:t>
            </a:r>
            <a:r>
              <a:rPr lang="ru-RU" sz="3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және</a:t>
            </a: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электроника </a:t>
            </a:r>
            <a:r>
              <a:rPr lang="ru-RU" sz="3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зақымдануы</a:t>
            </a: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3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Ұшу</a:t>
            </a: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қауіпсіздігінің</a:t>
            </a:r>
            <a:r>
              <a:rPr lang="ru-RU" sz="32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төмендеуі</a:t>
            </a:r>
            <a:endParaRPr lang="ru-RU" sz="3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520" y="332656"/>
            <a:ext cx="878497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✈ </a:t>
            </a:r>
            <a:r>
              <a:rPr lang="ru-RU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Қазіргі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авиация мен </a:t>
            </a:r>
            <a:r>
              <a:rPr lang="ru-RU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дрондар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ғарыштық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ауа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райының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әсеріне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ұшырайды</a:t>
            </a: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06340" y="5301208"/>
            <a:ext cx="87129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❗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Қазіргі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маршрут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жүйелері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ғарыштық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ауа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райын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толық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ескермейді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782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Страница 2 | Фотографии на тему «Фон самолёта» — скачивайте бесплатные  изображения высокого качества |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07504" y="116632"/>
            <a:ext cx="4896544" cy="35394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Нақты</a:t>
            </a:r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проблема</a:t>
            </a:r>
          </a:p>
          <a:p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Қазіргі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жүйелер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ғарыштық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деректерді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тек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бақылау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үшін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қолданады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маршрутты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автоматты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түрде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өзгертпейді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адам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факторына</a:t>
            </a:r>
            <a:r>
              <a:rPr lang="ru-RU" sz="3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тәуелді</a:t>
            </a:r>
            <a:endParaRPr lang="ru-RU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37989" y="4365104"/>
            <a:ext cx="8676456" cy="175432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 algn="ctr"/>
            <a:r>
              <a:rPr lang="ru-RU" sz="36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📌 </a:t>
            </a:r>
            <a:r>
              <a:rPr lang="en-US" sz="36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ru-RU" sz="3600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Нәтиже</a:t>
            </a:r>
            <a:r>
              <a:rPr lang="ru-RU" sz="36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ru-RU" sz="36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6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Қате</a:t>
            </a:r>
            <a:r>
              <a:rPr lang="ru-RU" sz="3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маршрут → </a:t>
            </a:r>
            <a:r>
              <a:rPr lang="ru-RU" sz="36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қауіп</a:t>
            </a:r>
            <a:r>
              <a:rPr lang="ru-RU" sz="3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→ </a:t>
            </a:r>
            <a:r>
              <a:rPr lang="ru-RU" sz="36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экономикалық</a:t>
            </a:r>
            <a:r>
              <a:rPr lang="en-US" sz="3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k-KZ" sz="3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шығын</a:t>
            </a:r>
            <a:endParaRPr lang="ru-RU" sz="36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07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79512" y="116632"/>
            <a:ext cx="6264696" cy="27997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Жобаның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өзектілігі</a:t>
            </a:r>
            <a:r>
              <a:rPr lang="ru-RU" sz="2400" b="1" dirty="0">
                <a:solidFill>
                  <a:srgbClr val="FF000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:</a:t>
            </a:r>
            <a:endParaRPr lang="ru-RU" sz="2400" b="1" dirty="0">
              <a:solidFill>
                <a:srgbClr val="FF000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авиация мен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дрон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санының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өсуі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;</a:t>
            </a:r>
            <a:endParaRPr lang="ru-RU" sz="2000" dirty="0">
              <a:solidFill>
                <a:srgbClr val="0070C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ғарыштық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ауа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райының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қауіп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төндіруі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;</a:t>
            </a:r>
            <a:endParaRPr lang="ru-RU" sz="2000" dirty="0">
              <a:solidFill>
                <a:srgbClr val="0070C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интеллектуалды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маршрут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жүйелеріне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сұраныстың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артуы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;</a:t>
            </a:r>
            <a:endParaRPr lang="ru-RU" sz="2000" dirty="0">
              <a:solidFill>
                <a:srgbClr val="0070C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ашық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ғарыш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деректерінің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қолжетімділігі</a:t>
            </a:r>
            <a:r>
              <a:rPr lang="ru-RU" sz="2000" dirty="0">
                <a:solidFill>
                  <a:srgbClr val="0070C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  <a:endParaRPr lang="ru-RU" sz="2000" dirty="0">
              <a:solidFill>
                <a:srgbClr val="0070C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067944" y="3284984"/>
            <a:ext cx="4896544" cy="315368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u-RU" sz="2400" b="1" dirty="0" err="1">
                <a:solidFill>
                  <a:srgbClr val="00B05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Жоба</a:t>
            </a: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B05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нәтижесінде</a:t>
            </a: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:</a:t>
            </a:r>
            <a:endParaRPr lang="ru-RU" sz="2400" b="1" dirty="0">
              <a:solidFill>
                <a:srgbClr val="00B05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қауіпсіз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маршрут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ұсынатын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жүйе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жасалады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;</a:t>
            </a:r>
            <a:endParaRPr lang="ru-RU" sz="20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ғарыштық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ауа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райының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әсері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азаяды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;</a:t>
            </a:r>
            <a:endParaRPr lang="ru-RU" sz="20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экономикалық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тиімділік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артады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;</a:t>
            </a:r>
            <a:endParaRPr lang="ru-RU" sz="20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SzPts val="1000"/>
              <a:buFont typeface="Symbol"/>
              <a:buChar char=""/>
              <a:tabLst>
                <a:tab pos="457200" algn="l"/>
              </a:tabLst>
            </a:pP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ғылыми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және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практикалық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маңызы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бар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өнім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пайда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болады</a:t>
            </a:r>
            <a:r>
              <a:rPr lang="ru-RU" sz="2000" dirty="0">
                <a:solidFill>
                  <a:srgbClr val="002060"/>
                </a:solidFill>
                <a:latin typeface="Times New Roman" pitchFamily="18" charset="0"/>
                <a:ea typeface="Times New Roman"/>
                <a:cs typeface="Times New Roman" pitchFamily="18" charset="0"/>
              </a:rPr>
              <a:t>.</a:t>
            </a:r>
            <a:endParaRPr lang="ru-RU" sz="2000" dirty="0">
              <a:solidFill>
                <a:srgbClr val="002060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53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Conceito de viagem em fundo azul com espaço de cópia Brinquedo de avião em  fundo de cor azul | Foto Prem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73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2411760" y="4581128"/>
            <a:ext cx="6552728" cy="14373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kk-KZ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</a:rPr>
              <a:t>Ғарыш деректері </a:t>
            </a:r>
            <a:r>
              <a:rPr lang="kk-KZ" sz="2400" b="1" dirty="0">
                <a:latin typeface="Times New Roman"/>
                <a:ea typeface="Times New Roman"/>
                <a:cs typeface="Times New Roman"/>
              </a:rPr>
              <a:t>→ </a:t>
            </a:r>
            <a:r>
              <a:rPr lang="en-US" sz="28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AI</a:t>
            </a:r>
            <a:r>
              <a:rPr lang="kk-KZ" sz="2800" b="1" dirty="0" smtClean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kk-KZ" sz="2800" b="1" dirty="0">
                <a:solidFill>
                  <a:srgbClr val="7030A0"/>
                </a:solidFill>
                <a:latin typeface="Times New Roman"/>
                <a:ea typeface="Times New Roman"/>
                <a:cs typeface="Times New Roman"/>
              </a:rPr>
              <a:t>талдауы </a:t>
            </a:r>
            <a:r>
              <a:rPr lang="kk-KZ" sz="2400" b="1" dirty="0">
                <a:latin typeface="Times New Roman"/>
                <a:ea typeface="Times New Roman"/>
                <a:cs typeface="Times New Roman"/>
              </a:rPr>
              <a:t>→ </a:t>
            </a:r>
            <a:r>
              <a:rPr lang="kk-KZ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Қауіп деңгейін болжау</a:t>
            </a:r>
            <a:r>
              <a:rPr lang="kk-KZ" sz="2400" b="1" dirty="0">
                <a:latin typeface="Times New Roman"/>
                <a:ea typeface="Times New Roman"/>
                <a:cs typeface="Times New Roman"/>
              </a:rPr>
              <a:t> → </a:t>
            </a:r>
            <a:r>
              <a:rPr lang="kk-KZ" sz="2400" b="1" dirty="0">
                <a:solidFill>
                  <a:srgbClr val="00B050"/>
                </a:solidFill>
                <a:latin typeface="Times New Roman"/>
                <a:ea typeface="Times New Roman"/>
                <a:cs typeface="Times New Roman"/>
              </a:rPr>
              <a:t>Ең қауіпсіз маршрутты таңдау</a:t>
            </a:r>
            <a:endParaRPr lang="ru-RU" sz="2400" dirty="0">
              <a:solidFill>
                <a:srgbClr val="00B050"/>
              </a:solidFill>
              <a:ea typeface="Calibri"/>
              <a:cs typeface="Times New Roman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31540" y="1556792"/>
            <a:ext cx="8280920" cy="1569660"/>
          </a:xfrm>
          <a:prstGeom prst="rect">
            <a:avLst/>
          </a:prstGeom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🚀 </a:t>
            </a:r>
            <a:r>
              <a:rPr lang="en-US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SpaceRoute</a:t>
            </a: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AI</a:t>
            </a:r>
            <a:r>
              <a:rPr lang="en-US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—</a:t>
            </a:r>
            <a:br>
              <a:rPr lang="en-US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32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ғарыштық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ауа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райы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деректерін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ru-RU" sz="32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арқылы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талдап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32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ең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қауіпсіз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маршрутты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ұсынады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3" name="Выноска со стрелкой вниз 2"/>
          <p:cNvSpPr/>
          <p:nvPr/>
        </p:nvSpPr>
        <p:spPr>
          <a:xfrm>
            <a:off x="827584" y="260648"/>
            <a:ext cx="7884876" cy="1008112"/>
          </a:xfrm>
          <a:prstGeom prst="downArrow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2618783" y="261414"/>
            <a:ext cx="3906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Біздің</a:t>
            </a:r>
            <a:r>
              <a:rPr lang="ru-RU" sz="36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шешім</a:t>
            </a:r>
            <a:endParaRPr lang="ru-RU" sz="36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056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4141315" y="1766666"/>
            <a:ext cx="475116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ru-RU" sz="24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Ғарыштық</a:t>
            </a:r>
            <a:r>
              <a:rPr lang="ru-RU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деректерді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алу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NASA, ESA</a:t>
            </a: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lang="kk-KZ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kk-KZ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модель 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қауіп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деңгейін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есептейді</a:t>
            </a:r>
            <a:endParaRPr lang="ru-RU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sz="24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Бірнеше</a:t>
            </a:r>
            <a:r>
              <a:rPr lang="ru-RU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маршрутты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салыстырады</a:t>
            </a:r>
            <a:endParaRPr lang="ru-RU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ru-RU" sz="24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Ең</a:t>
            </a:r>
            <a:r>
              <a:rPr lang="ru-RU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қауіпсіз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бағытты</a:t>
            </a:r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ұсынады</a:t>
            </a:r>
            <a:endParaRPr lang="ru-RU" sz="24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5. </a:t>
            </a:r>
            <a:r>
              <a:rPr lang="ru-RU" sz="24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Картада</a:t>
            </a:r>
            <a:r>
              <a:rPr lang="ru-RU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визуализациялайды</a:t>
            </a:r>
            <a:endParaRPr lang="ru-RU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 descr="Hombre De Negocios 3d Con La Cartera Y El Cartel Vacío Stock de ilustración  - Ilustración de fondo, cartera: 14274057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002" y="1628557"/>
            <a:ext cx="3600401" cy="4800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Выноска-облако 5"/>
          <p:cNvSpPr/>
          <p:nvPr/>
        </p:nvSpPr>
        <p:spPr>
          <a:xfrm>
            <a:off x="1702031" y="188640"/>
            <a:ext cx="7344816" cy="1296144"/>
          </a:xfrm>
          <a:prstGeom prst="cloudCallout">
            <a:avLst>
              <a:gd name="adj1" fmla="val -38394"/>
              <a:gd name="adj2" fmla="val 140474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3187777" y="575102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Өнім</a:t>
            </a:r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қалай</a:t>
            </a:r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жұмыс</a:t>
            </a:r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істейді</a:t>
            </a:r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65798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ree and customizable airplane wallpaper templates | Can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79512" y="188640"/>
            <a:ext cx="4572000" cy="4154984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MVP / </a:t>
            </a: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Прототип</a:t>
            </a:r>
          </a:p>
          <a:p>
            <a:endParaRPr lang="ru-RU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/>
              <a:buChar char="•"/>
            </a:pP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Консольдік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прототип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әзірленді</a:t>
            </a:r>
            <a:endParaRPr lang="ru-RU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/>
              <a:buChar char="•"/>
            </a:pP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Функциялар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742950" lvl="1" indent="-285750">
              <a:buFont typeface="Arial"/>
              <a:buChar char="•"/>
            </a:pP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Деректерді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қабылдау</a:t>
            </a:r>
            <a:endParaRPr lang="ru-RU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Қауіп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деңгейін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есептеу</a:t>
            </a:r>
            <a:endParaRPr lang="ru-RU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Маршруттарды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салыстыру</a:t>
            </a:r>
            <a:endParaRPr lang="ru-RU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marL="742950" lvl="1" indent="-285750">
              <a:buFont typeface="Arial"/>
              <a:buChar char="•"/>
            </a:pP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Ең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қауіпсіз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маршрутты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таңдау</a:t>
            </a:r>
            <a:endParaRPr lang="ru-RU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/>
              <a:buChar char="•"/>
            </a:pP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NASA/ESA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деректерімен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интеграцияға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дайын</a:t>
            </a:r>
            <a:endParaRPr lang="ru-RU" sz="24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77788" y="4653136"/>
            <a:ext cx="8388424" cy="20005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lang="ru-RU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Зерттеу</a:t>
            </a:r>
            <a:r>
              <a:rPr lang="ru-RU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нәтижелері</a:t>
            </a:r>
            <a:endParaRPr lang="ru-RU" sz="2800" b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ru-RU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/>
              <a:buChar char="•"/>
            </a:pP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Қауіп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коэффициенті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әр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маршрутта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өзгеріп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отырады</a:t>
            </a:r>
            <a:endParaRPr lang="ru-RU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/>
              <a:buChar char="•"/>
            </a:pPr>
            <a:r>
              <a:rPr lang="en-US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болжамдары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ұшу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қауіпсіздігін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арттыруға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мүмкіндік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береді</a:t>
            </a:r>
            <a:endParaRPr lang="ru-RU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/>
              <a:buChar char="•"/>
            </a:pP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Маршруттар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арасындағы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айырмашылық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айқын</a:t>
            </a:r>
            <a:r>
              <a:rPr lang="ru-RU" sz="24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көрінді</a:t>
            </a:r>
            <a:endParaRPr lang="ru-RU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83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Top view planes on blue background | Premium Phot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4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251520" y="332656"/>
            <a:ext cx="67944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Қолданылатын</a:t>
            </a:r>
            <a:r>
              <a:rPr lang="ru-RU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ru-RU" sz="3200" b="1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технологиялары</a:t>
            </a:r>
            <a:endParaRPr lang="ru-RU" sz="32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844824"/>
            <a:ext cx="4572000" cy="1815882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>
            <a:spAutoFit/>
          </a:bodyPr>
          <a:lstStyle/>
          <a:p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🤖 </a:t>
            </a:r>
            <a:r>
              <a:rPr lang="ru-RU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Machine 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Learning</a:t>
            </a:r>
            <a:b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📈 </a:t>
            </a:r>
            <a:r>
              <a:rPr lang="ru-RU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Time-series 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prediction</a:t>
            </a:r>
            <a:b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🧠 </a:t>
            </a:r>
            <a:r>
              <a:rPr lang="ru-RU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800" b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Нейрондық</a:t>
            </a:r>
            <a:r>
              <a:rPr lang="ru-RU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желілер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📊 </a:t>
            </a:r>
            <a:r>
              <a:rPr lang="ru-RU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Regression 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models</a:t>
            </a:r>
            <a:endParaRPr lang="ru-RU" sz="2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450991" y="2537321"/>
            <a:ext cx="3456384" cy="224676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Кіріс</a:t>
            </a: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деректер</a:t>
            </a: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800" b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Күн</a:t>
            </a: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белсенділігі</a:t>
            </a: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800" b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Геомагниттік</a:t>
            </a: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дауыл</a:t>
            </a: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• Радиация </a:t>
            </a:r>
            <a:r>
              <a:rPr lang="ru-RU" sz="2800" b="1" dirty="0" err="1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деңгейі</a:t>
            </a:r>
            <a:endParaRPr lang="ru-RU" sz="2800" b="1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84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 descr="3d White People Working As Service Man On White Background With Sign Stock  Photo, Picture and Royalty Free Image. Image 19474593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5112568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735796" y="1196752"/>
            <a:ext cx="22682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SpaceRoute</a:t>
            </a:r>
            <a:r>
              <a:rPr lang="en-US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AI </a:t>
            </a:r>
            <a:r>
              <a:rPr lang="ru-RU" sz="28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ерекшелігі</a:t>
            </a:r>
            <a:r>
              <a:rPr lang="ru-RU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71600" y="4077072"/>
            <a:ext cx="7704855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✅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Ғарыштық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ауа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райы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+ маршрут =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бір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жүйе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✅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Автоматты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шешім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✅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Нақты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уақыт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режимі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✅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AI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болжау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механизмі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✅</a:t>
            </a: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Визуал</a:t>
            </a:r>
            <a:r>
              <a:rPr lang="ru-RU" sz="24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карта</a:t>
            </a:r>
          </a:p>
        </p:txBody>
      </p:sp>
    </p:spTree>
    <p:extLst>
      <p:ext uri="{BB962C8B-B14F-4D97-AF65-F5344CB8AC3E}">
        <p14:creationId xmlns:p14="http://schemas.microsoft.com/office/powerpoint/2010/main" val="149224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109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601020" y="908720"/>
            <a:ext cx="801026" cy="316835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796049" y="1154068"/>
            <a:ext cx="4320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k-KZ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</a:t>
            </a:r>
          </a:p>
          <a:p>
            <a:r>
              <a:rPr lang="kk-KZ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Л</a:t>
            </a:r>
          </a:p>
          <a:p>
            <a:r>
              <a:rPr lang="kk-KZ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</a:t>
            </a:r>
          </a:p>
          <a:p>
            <a:r>
              <a:rPr lang="kk-KZ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Е</a:t>
            </a:r>
          </a:p>
          <a:p>
            <a:r>
              <a:rPr lang="kk-KZ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Н</a:t>
            </a:r>
          </a:p>
          <a:p>
            <a:r>
              <a:rPr lang="kk-KZ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</a:t>
            </a:r>
            <a:endParaRPr lang="ru-RU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18" y="188639"/>
            <a:ext cx="1596912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>
            <a:spAutoFit/>
          </a:bodyPr>
          <a:lstStyle/>
          <a:p>
            <a:r>
              <a:rPr lang="ru-RU" sz="32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Нарық</a:t>
            </a:r>
            <a:r>
              <a:rPr lang="ru-RU" sz="32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7" name="Пятиугольник 6"/>
          <p:cNvSpPr/>
          <p:nvPr/>
        </p:nvSpPr>
        <p:spPr>
          <a:xfrm>
            <a:off x="1724648" y="1070659"/>
            <a:ext cx="4215504" cy="618748"/>
          </a:xfrm>
          <a:prstGeom prst="homePlat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dirty="0" smtClean="0"/>
              <a:t>0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062797" y="1118423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Әуекомпаниялар</a:t>
            </a:r>
            <a:endParaRPr lang="ru-RU" sz="2800" b="1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426" y="3399132"/>
            <a:ext cx="4184726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426" y="2636912"/>
            <a:ext cx="4184726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337" y="1846782"/>
            <a:ext cx="419681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1845090" y="1908228"/>
            <a:ext cx="35842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Дрон</a:t>
            </a:r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компаниялары</a:t>
            </a:r>
            <a:endParaRPr lang="ru-RU" sz="2800" b="1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796470" y="2698358"/>
            <a:ext cx="391024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Логистика </a:t>
            </a:r>
            <a:r>
              <a:rPr lang="ru-RU" sz="28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фирмалары</a:t>
            </a:r>
            <a:endParaRPr lang="ru-RU" sz="2800" b="1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1898006" y="3447534"/>
            <a:ext cx="37071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Ғылыми</a:t>
            </a:r>
            <a:r>
              <a:rPr lang="ru-RU" sz="28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орталықтар</a:t>
            </a:r>
            <a:endParaRPr lang="ru-RU" sz="2800" b="1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1265530" y="4379589"/>
            <a:ext cx="7704856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24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Нарық</a:t>
            </a: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көлемі</a:t>
            </a: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TAM / SAM / SOM)</a:t>
            </a:r>
          </a:p>
          <a:p>
            <a:r>
              <a:rPr lang="ru-RU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🌍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TAM – </a:t>
            </a:r>
            <a:r>
              <a:rPr lang="ru-RU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жаһандық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авиация + </a:t>
            </a:r>
            <a:r>
              <a:rPr lang="ru-RU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дрон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нарығы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🌎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SAM – </a:t>
            </a:r>
            <a:r>
              <a:rPr lang="ru-RU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маршрутты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жоспарлау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жүйелері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🎯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SOM – </a:t>
            </a:r>
            <a:r>
              <a:rPr lang="ru-RU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алғашқы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1% </a:t>
            </a:r>
            <a:r>
              <a:rPr lang="ru-RU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клиенттер</a:t>
            </a:r>
            <a:endParaRPr lang="ru-RU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Потенциал:</a:t>
            </a:r>
            <a:b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миллиондаған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долларлық</a:t>
            </a:r>
            <a:r>
              <a:rPr lang="ru-RU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нарығы</a:t>
            </a:r>
            <a:endParaRPr lang="ru-RU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72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Прямоугольник 1"/>
          <p:cNvSpPr/>
          <p:nvPr/>
        </p:nvSpPr>
        <p:spPr>
          <a:xfrm>
            <a:off x="1907704" y="332656"/>
            <a:ext cx="354103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4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Бәсекелестер</a:t>
            </a:r>
            <a:endParaRPr lang="ru-RU" sz="4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899592" y="1772816"/>
            <a:ext cx="5112568" cy="1815882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Қазіргі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шешімдер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Дәстүрлі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маршрут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жүйелері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Метео-болжам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сервистері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GPS 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навигация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995936" y="5229200"/>
            <a:ext cx="5004048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24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Оларда</a:t>
            </a: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жоқ</a:t>
            </a:r>
            <a:r>
              <a:rPr lang="ru-RU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ru-RU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❌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ғарыштық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ауа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райын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арқылы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ескеру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❌</a:t>
            </a:r>
            <a:r>
              <a:rPr lang="en-US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автоматты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қауіпсіз</a:t>
            </a:r>
            <a:r>
              <a:rPr lang="ru-RU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маршрут</a:t>
            </a:r>
          </a:p>
        </p:txBody>
      </p:sp>
    </p:spTree>
    <p:extLst>
      <p:ext uri="{BB962C8B-B14F-4D97-AF65-F5344CB8AC3E}">
        <p14:creationId xmlns:p14="http://schemas.microsoft.com/office/powerpoint/2010/main" val="321822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0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AutoShape 8" descr="3d white working as business man on the blank background — Stock Photo ©  pixdesign123 #2477945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644" y="2852936"/>
            <a:ext cx="3715223" cy="3886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876256" y="4077072"/>
            <a:ext cx="15672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Бизнес-модель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302886"/>
              </p:ext>
            </p:extLst>
          </p:nvPr>
        </p:nvGraphicFramePr>
        <p:xfrm>
          <a:off x="958050" y="836712"/>
          <a:ext cx="6701852" cy="1828800"/>
        </p:xfrm>
        <a:graphic>
          <a:graphicData uri="http://schemas.openxmlformats.org/drawingml/2006/table">
            <a:tbl>
              <a:tblPr/>
              <a:tblGrid>
                <a:gridCol w="3350926"/>
                <a:gridCol w="3350926"/>
              </a:tblGrid>
              <a:tr h="432048"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Тариф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 err="1">
                          <a:solidFill>
                            <a:srgbClr val="FF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Бағасы</a:t>
                      </a:r>
                      <a:endParaRPr lang="ru-RU" sz="2400" dirty="0">
                        <a:solidFill>
                          <a:srgbClr val="FF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$50 / ай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$200 / ай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Enterprise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solidFill>
                            <a:srgbClr val="7030A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$1000+ / ай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155575" y="157047"/>
            <a:ext cx="4156907" cy="584775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💰</a:t>
            </a:r>
            <a:r>
              <a:rPr lang="ru-RU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3200" b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en-US" sz="32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b="1" dirty="0" err="1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жазылым</a:t>
            </a:r>
            <a:r>
              <a:rPr lang="ru-RU" sz="32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98882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Free and customizable airplane wallpaper templates | Canv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251520" y="188640"/>
            <a:ext cx="58338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Қорытынды</a:t>
            </a:r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2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және</a:t>
            </a:r>
            <a:r>
              <a:rPr lang="ru-RU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инвестиция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96132" y="781991"/>
            <a:ext cx="5832052" cy="2246769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🚀 </a:t>
            </a:r>
            <a:r>
              <a:rPr lang="en-US" sz="28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8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SpaceRoute</a:t>
            </a:r>
            <a:r>
              <a:rPr lang="en-US" sz="28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AI: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авиация </a:t>
            </a:r>
            <a:r>
              <a:rPr lang="ru-RU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қауіпсіздігін</a:t>
            </a: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арттырады</a:t>
            </a: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шығынды</a:t>
            </a: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азайтады</a:t>
            </a: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инновациялық</a:t>
            </a: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AI </a:t>
            </a:r>
            <a:r>
              <a:rPr lang="ru-RU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шешім</a:t>
            </a: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стартап</a:t>
            </a: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ретінде</a:t>
            </a:r>
            <a:r>
              <a:rPr lang="ru-RU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масштабталады</a:t>
            </a:r>
            <a:endParaRPr lang="ru-RU" sz="2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6132" y="3889120"/>
            <a:ext cx="5291484" cy="8925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FFC000"/>
                </a:solidFill>
                <a:latin typeface="Times New Roman" pitchFamily="18" charset="0"/>
                <a:cs typeface="Times New Roman" pitchFamily="18" charset="0"/>
              </a:rPr>
              <a:t>💡</a:t>
            </a:r>
            <a:r>
              <a:rPr lang="ru-RU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800" b="1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Сұраныс</a:t>
            </a:r>
            <a:r>
              <a:rPr lang="ru-RU" sz="28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Инвестиция → даму →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нарыққа</a:t>
            </a:r>
            <a:r>
              <a:rPr lang="ru-RU" sz="2400" dirty="0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solidFill>
                  <a:schemeClr val="bg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шығу</a:t>
            </a:r>
            <a:endParaRPr lang="ru-RU" sz="2400" dirty="0">
              <a:solidFill>
                <a:schemeClr val="bg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 descr="3d White People As Business Man Stock Photo, Picture and Royalty Free  Image. Image 19969230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278" y="4134632"/>
            <a:ext cx="2661251" cy="266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20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Базовая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501</TotalTime>
  <Words>285</Words>
  <Application>Microsoft Office PowerPoint</Application>
  <PresentationFormat>Экран (4:3)</PresentationFormat>
  <Paragraphs>82</Paragraphs>
  <Slides>13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админ</dc:creator>
  <cp:lastModifiedBy>админ</cp:lastModifiedBy>
  <cp:revision>31</cp:revision>
  <dcterms:created xsi:type="dcterms:W3CDTF">2026-02-24T10:45:07Z</dcterms:created>
  <dcterms:modified xsi:type="dcterms:W3CDTF">2026-02-26T09:21:04Z</dcterms:modified>
</cp:coreProperties>
</file>